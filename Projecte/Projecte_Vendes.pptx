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8" r:id="rId3"/>
    <p:sldId id="257" r:id="rId4"/>
    <p:sldId id="260" r:id="rId5"/>
    <p:sldId id="261" r:id="rId6"/>
    <p:sldId id="262" r:id="rId7"/>
    <p:sldId id="266" r:id="rId8"/>
    <p:sldId id="263" r:id="rId9"/>
    <p:sldId id="265" r:id="rId10"/>
    <p:sldId id="267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0AEF02-914A-5281-0332-161C34368D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C29EB7-A90B-92EC-A57D-C08C6A809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9AFA8A-FD5A-A2C0-0FA9-79DC76F91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9255A-1C1C-4056-957E-36A368C7EED0}" type="datetimeFigureOut">
              <a:rPr lang="es-ES" smtClean="0"/>
              <a:t>16/02/2026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C524A8-368B-D567-E2D8-81C06B267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E55559-372C-B74B-3970-65DC50721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221B8-F2DF-4DC6-A142-4E41418C940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9451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B3884B-67CD-EDAA-2D28-E994EB9FF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F0AC690-D0E4-EC7F-F9B1-1360F1726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22A225-969A-02C3-9F16-32EA528BC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9255A-1C1C-4056-957E-36A368C7EED0}" type="datetimeFigureOut">
              <a:rPr lang="es-ES" smtClean="0"/>
              <a:t>16/02/2026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1E943D-CF12-751E-268C-E089AF0E3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D7D2D6-E958-B57E-8160-4BFCA7D93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221B8-F2DF-4DC6-A142-4E41418C940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35798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8C5AE4-7023-7DA8-7CC3-5D77014A0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AF60F7-B118-161B-0041-FA88D637F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34E87B-7D0B-B994-2D93-469953860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9255A-1C1C-4056-957E-36A368C7EED0}" type="datetimeFigureOut">
              <a:rPr lang="es-ES" smtClean="0"/>
              <a:t>16/02/2026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F2802E-2F1D-3AF4-EDC7-D0021CCD6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B7E240-AEC7-6F77-2EA4-EA9284A1E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221B8-F2DF-4DC6-A142-4E41418C940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4110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4F94E5-CD41-06B3-8E42-0D3137ACA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D8A514-34FC-C95F-FA8B-5B313C6F53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D0B8122-DB3D-3913-B6BE-243DB1D08B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0C9444E-F4B2-719E-22A9-B989A2723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9255A-1C1C-4056-957E-36A368C7EED0}" type="datetimeFigureOut">
              <a:rPr lang="es-ES" smtClean="0"/>
              <a:t>16/02/2026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A1C427D-9AB0-652B-AD41-213E54D80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BEF07ED-186B-9E0B-4CD0-BFEDA4ABD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221B8-F2DF-4DC6-A142-4E41418C940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3709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BE9F40-0660-2399-E728-6F3D62F3D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D64471-6407-1B10-DD98-5D2B6F0F1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CF9EFF8-6B33-F722-AB41-51A18653C0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E74CA2A-30AA-DFE2-5A16-8C0B020D05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17C52CF-F970-FA96-8535-A99198E68E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D538234-563E-460E-4B88-09101E0F7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9255A-1C1C-4056-957E-36A368C7EED0}" type="datetimeFigureOut">
              <a:rPr lang="es-ES" smtClean="0"/>
              <a:t>16/02/2026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C21523-7EC9-DA50-DB1F-EAFDA17D3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D8220D9-808D-21CD-5A62-5CA71BEF0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221B8-F2DF-4DC6-A142-4E41418C940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7445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41C5E0-A324-BD15-0D5E-ABE88FF19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E66F968-DBA8-1DB2-52F5-3A631CF79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9255A-1C1C-4056-957E-36A368C7EED0}" type="datetimeFigureOut">
              <a:rPr lang="es-ES" smtClean="0"/>
              <a:t>16/02/2026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DB1735F-BCB1-8730-B1A4-896BFEE5F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60C75AF-A713-AAA3-CD09-20C5EC871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221B8-F2DF-4DC6-A142-4E41418C940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2931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26D8AEE-4E84-02CB-77D5-740EE05A2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9255A-1C1C-4056-957E-36A368C7EED0}" type="datetimeFigureOut">
              <a:rPr lang="es-ES" smtClean="0"/>
              <a:t>16/02/2026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40AEDCC-1C3E-5BF3-6A0F-A05D6DDFE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10F2583-A262-68BA-1430-E48B8558B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221B8-F2DF-4DC6-A142-4E41418C940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39635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5B3F1-2FC4-2798-20F6-D063F8049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E316F4-AC96-9ED9-6049-9BDA7FD50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618CBAF-1C8B-4874-3F27-E89A918D48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D713AAF-504D-E2EF-F7E3-8F11D529D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9255A-1C1C-4056-957E-36A368C7EED0}" type="datetimeFigureOut">
              <a:rPr lang="es-ES" smtClean="0"/>
              <a:t>16/02/2026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67DC272-EBE6-C395-8A60-EB6A3D863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94389E7-E0AC-A467-2651-D8E48C5C6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221B8-F2DF-4DC6-A142-4E41418C940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3850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842ADA-0AA0-ABD8-BBF0-F0D2459C8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7A28BBB-DD47-607A-30D1-1712AF650A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2A25F1-61D6-2BD3-720C-0493E2A648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43934CD-52AD-B8B4-3BA2-34DE2D7AE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9255A-1C1C-4056-957E-36A368C7EED0}" type="datetimeFigureOut">
              <a:rPr lang="es-ES" smtClean="0"/>
              <a:t>16/02/2026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1494029-B7A0-E05F-56A3-661B035AA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523F7F-E03A-FFF7-2052-30DE7BA6E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221B8-F2DF-4DC6-A142-4E41418C940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4269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D8C30A-BBAA-AB7D-1184-9425EA77D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C7800BB-DF94-68F5-B932-91108AAC96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373DBF-C014-D728-A821-73FA0551F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9255A-1C1C-4056-957E-36A368C7EED0}" type="datetimeFigureOut">
              <a:rPr lang="es-ES" smtClean="0"/>
              <a:t>16/02/2026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A56C9B-52F8-E6FF-BA79-5F05DE0B8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894CC1-76C0-695B-8CF3-A9FB7760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221B8-F2DF-4DC6-A142-4E41418C940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0620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1F9DFA2-DE85-E6CA-F311-AA8CEDEC30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729B652-0F6D-62C0-24D3-DE032FB39A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6A851F-866E-7EDD-1853-B7595C385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9255A-1C1C-4056-957E-36A368C7EED0}" type="datetimeFigureOut">
              <a:rPr lang="es-ES" smtClean="0"/>
              <a:t>16/02/2026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32B7F0-54D9-E409-73A6-1AD80C36C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1C1040-3826-3912-7F2F-1D4BA14EA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221B8-F2DF-4DC6-A142-4E41418C940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19114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7A93301-8BA7-2ACA-71E9-CE215D724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68CA902-9EA3-69D3-E836-864A4E808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96D6EE-AF7D-ABD5-5525-42C0C1B7C6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A9255A-1C1C-4056-957E-36A368C7EED0}" type="datetimeFigureOut">
              <a:rPr lang="es-ES" smtClean="0"/>
              <a:t>16/02/2026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789ADC-8CB1-872A-D63E-1FF4E0E30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5E53DB7-BE5C-F810-7A9D-C11CD03138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C221B8-F2DF-4DC6-A142-4E41418C940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77508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6.svg"/><Relationship Id="rId7" Type="http://schemas.openxmlformats.org/officeDocument/2006/relationships/image" Target="../media/image17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Quantitative_deviation.html" TargetMode="External"/><Relationship Id="rId3" Type="http://schemas.openxmlformats.org/officeDocument/2006/relationships/hyperlink" Target="FOM_usp_boxplot_2023_2024.html" TargetMode="External"/><Relationship Id="rId7" Type="http://schemas.openxmlformats.org/officeDocument/2006/relationships/hyperlink" Target="2024_Quantitative.html" TargetMode="External"/><Relationship Id="rId2" Type="http://schemas.openxmlformats.org/officeDocument/2006/relationships/hyperlink" Target="TCN_usp_boxplot_2023_2024.html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Sales_deviation.html" TargetMode="External"/><Relationship Id="rId5" Type="http://schemas.openxmlformats.org/officeDocument/2006/relationships/hyperlink" Target="2024_Monthly_Sales_vs_Budget_Performance.html" TargetMode="External"/><Relationship Id="rId4" Type="http://schemas.openxmlformats.org/officeDocument/2006/relationships/hyperlink" Target="DSP_usp_boxplot_2023_2024.html" TargetMode="External"/><Relationship Id="rId9" Type="http://schemas.openxmlformats.org/officeDocument/2006/relationships/hyperlink" Target="dades_generals.html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4AB488-5126-E149-0C2E-64B6C313D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720975"/>
          </a:xfrm>
        </p:spPr>
        <p:txBody>
          <a:bodyPr>
            <a:normAutofit/>
          </a:bodyPr>
          <a:lstStyle/>
          <a:p>
            <a:pPr algn="ctr"/>
            <a:r>
              <a:rPr lang="ca-ES" b="1" u="sng" dirty="0">
                <a:solidFill>
                  <a:schemeClr val="accent1">
                    <a:lumMod val="75000"/>
                  </a:schemeClr>
                </a:solidFill>
              </a:rPr>
              <a:t>Anàlisi Estratègica de les Vendes d'una empresa en el Sector Industrial</a:t>
            </a:r>
            <a:br>
              <a:rPr lang="es-ES" dirty="0"/>
            </a:br>
            <a:endParaRPr lang="es-ES" dirty="0"/>
          </a:p>
        </p:txBody>
      </p:sp>
      <p:pic>
        <p:nvPicPr>
          <p:cNvPr id="4" name="Gráfico 3" descr="Gráfico de barras con tendencia alcista">
            <a:extLst>
              <a:ext uri="{FF2B5EF4-FFF2-40B4-BE49-F238E27FC236}">
                <a16:creationId xmlns:a16="http://schemas.microsoft.com/office/drawing/2014/main" id="{BBA4A1D6-DF14-A0D5-0C17-D0F791AEB1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0631" y="4636293"/>
            <a:ext cx="1433513" cy="1293019"/>
          </a:xfrm>
          <a:prstGeom prst="rect">
            <a:avLst/>
          </a:prstGeom>
        </p:spPr>
      </p:pic>
      <p:pic>
        <p:nvPicPr>
          <p:cNvPr id="6" name="Gráfico 5" descr="Presentación con gráfico de barras RTL">
            <a:extLst>
              <a:ext uri="{FF2B5EF4-FFF2-40B4-BE49-F238E27FC236}">
                <a16:creationId xmlns:a16="http://schemas.microsoft.com/office/drawing/2014/main" id="{0FB7DB7B-D1C0-60F1-842B-B7634711A4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9056" y="4636293"/>
            <a:ext cx="914400" cy="1092995"/>
          </a:xfrm>
          <a:prstGeom prst="rect">
            <a:avLst/>
          </a:prstGeom>
        </p:spPr>
      </p:pic>
      <p:pic>
        <p:nvPicPr>
          <p:cNvPr id="8" name="Gráfico 7" descr="Base de datos">
            <a:extLst>
              <a:ext uri="{FF2B5EF4-FFF2-40B4-BE49-F238E27FC236}">
                <a16:creationId xmlns:a16="http://schemas.microsoft.com/office/drawing/2014/main" id="{AA081436-73C5-908F-FA23-271DC3A163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7711" y="4636293"/>
            <a:ext cx="914400" cy="1092993"/>
          </a:xfrm>
          <a:prstGeom prst="rect">
            <a:avLst/>
          </a:prstGeom>
        </p:spPr>
      </p:pic>
      <p:pic>
        <p:nvPicPr>
          <p:cNvPr id="10" name="Gráfico 9" descr="Cabeza con engranajes">
            <a:extLst>
              <a:ext uri="{FF2B5EF4-FFF2-40B4-BE49-F238E27FC236}">
                <a16:creationId xmlns:a16="http://schemas.microsoft.com/office/drawing/2014/main" id="{F80FE94A-8610-FDDB-7121-386227E1DC5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07481" y="4636294"/>
            <a:ext cx="914400" cy="1092994"/>
          </a:xfrm>
          <a:prstGeom prst="rect">
            <a:avLst/>
          </a:prstGeom>
        </p:spPr>
      </p:pic>
      <p:pic>
        <p:nvPicPr>
          <p:cNvPr id="12" name="Gráfico 11" descr="Investigación">
            <a:extLst>
              <a:ext uri="{FF2B5EF4-FFF2-40B4-BE49-F238E27FC236}">
                <a16:creationId xmlns:a16="http://schemas.microsoft.com/office/drawing/2014/main" id="{AB5FA5ED-865E-6FD5-D728-AEF5E653E84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27596" y="4636294"/>
            <a:ext cx="914400" cy="1092994"/>
          </a:xfrm>
          <a:prstGeom prst="rect">
            <a:avLst/>
          </a:prstGeom>
        </p:spPr>
      </p:pic>
      <p:pic>
        <p:nvPicPr>
          <p:cNvPr id="1026" name="Picture 2" descr="Python Logo, symbol, meaning, history, PNG, brand">
            <a:extLst>
              <a:ext uri="{FF2B5EF4-FFF2-40B4-BE49-F238E27FC236}">
                <a16:creationId xmlns:a16="http://schemas.microsoft.com/office/drawing/2014/main" id="{1F96A969-7D9E-541B-C538-51AD1CC42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1319" y="4521993"/>
            <a:ext cx="2857501" cy="1407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ower BI Logo, symbol, meaning, history, PNG, brand">
            <a:extLst>
              <a:ext uri="{FF2B5EF4-FFF2-40B4-BE49-F238E27FC236}">
                <a16:creationId xmlns:a16="http://schemas.microsoft.com/office/drawing/2014/main" id="{1C1B3F07-1FEE-486D-0F94-199D67F29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2779" y="4300537"/>
            <a:ext cx="3028950" cy="162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5295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9EC6CF-1BAE-DA8E-5DC3-A801F11D5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/>
          <a:p>
            <a:r>
              <a:rPr lang="ca-ES" sz="1600" b="1" u="sng" dirty="0">
                <a:solidFill>
                  <a:schemeClr val="accent1">
                    <a:lumMod val="75000"/>
                  </a:schemeClr>
                </a:solidFill>
              </a:rPr>
              <a:t>Anàlisi Estratègica de les Vendes d'una empresa en el Sector Industrial</a:t>
            </a:r>
            <a:endParaRPr lang="es-ES" sz="1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26F195-17C0-B150-6275-AFFFEB39D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8725"/>
            <a:ext cx="10515600" cy="49482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ca-ES" b="1" u="sng" dirty="0"/>
              <a:t>Introducció (premisses):</a:t>
            </a:r>
          </a:p>
          <a:p>
            <a:pPr lvl="0" algn="just">
              <a:lnSpc>
                <a:spcPct val="150000"/>
              </a:lnSpc>
            </a:pPr>
            <a:r>
              <a:rPr lang="ca-ES" dirty="0"/>
              <a:t>Outputs a final d’any (tancament) de l’anàlisi de les vendes d’una empresa industrial.</a:t>
            </a:r>
          </a:p>
          <a:p>
            <a:pPr lvl="0" algn="just">
              <a:lnSpc>
                <a:spcPct val="150000"/>
              </a:lnSpc>
            </a:pPr>
            <a:r>
              <a:rPr lang="ca-ES" dirty="0"/>
              <a:t>Enfocat a la direcció: CEO,CFO, Cap de vendes. </a:t>
            </a:r>
            <a:endParaRPr lang="es-ES" dirty="0"/>
          </a:p>
          <a:p>
            <a:pPr lvl="0" algn="just">
              <a:lnSpc>
                <a:spcPct val="150000"/>
              </a:lnSpc>
            </a:pPr>
            <a:r>
              <a:rPr lang="ca-ES" dirty="0"/>
              <a:t>Forma dinàmica -consultable-; ampliable la base de dades pels següents anys.</a:t>
            </a: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17575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A6788B1D-FB33-DE3A-C723-C681C4BBB1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s-ES" dirty="0" err="1"/>
              <a:t>sfsf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6128B65-ED4D-AB62-E8A5-AE763F3F4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8" y="975969"/>
            <a:ext cx="9144000" cy="5181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559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17A05-6176-EA13-6F9C-8172018C8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B5F37E-6C7E-4F20-3764-F04331948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/>
          <a:p>
            <a:r>
              <a:rPr lang="ca-ES" sz="1600" b="1" u="sng" dirty="0">
                <a:solidFill>
                  <a:schemeClr val="accent1">
                    <a:lumMod val="75000"/>
                  </a:schemeClr>
                </a:solidFill>
              </a:rPr>
              <a:t>Anàlisi Estratègica de les Vendes d'una empresa en el Sector Industrial</a:t>
            </a:r>
            <a:endParaRPr lang="es-ES" sz="1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2156DE-D3CD-6139-4538-666166D41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8725"/>
            <a:ext cx="10515600" cy="49482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ca-ES" b="1" u="sng" dirty="0"/>
              <a:t>Objectius:</a:t>
            </a:r>
            <a:endParaRPr lang="es-ES" dirty="0"/>
          </a:p>
          <a:p>
            <a:pPr lvl="0">
              <a:lnSpc>
                <a:spcPct val="150000"/>
              </a:lnSpc>
            </a:pPr>
            <a:r>
              <a:rPr lang="ca-ES" dirty="0"/>
              <a:t>Anàlisis de les vendes de forma general.</a:t>
            </a:r>
            <a:endParaRPr lang="es-ES" dirty="0"/>
          </a:p>
          <a:p>
            <a:pPr lvl="0">
              <a:lnSpc>
                <a:spcPct val="150000"/>
              </a:lnSpc>
            </a:pPr>
            <a:r>
              <a:rPr lang="ca-ES" dirty="0"/>
              <a:t>Anàlisis de les vendes  per productes: tipus, famílies...</a:t>
            </a:r>
            <a:endParaRPr lang="es-ES" dirty="0"/>
          </a:p>
          <a:p>
            <a:pPr lvl="0">
              <a:lnSpc>
                <a:spcPct val="150000"/>
              </a:lnSpc>
            </a:pPr>
            <a:r>
              <a:rPr lang="ca-ES" dirty="0"/>
              <a:t>Anàlisis de les vendes per clients i zones.</a:t>
            </a:r>
            <a:endParaRPr lang="es-ES" dirty="0"/>
          </a:p>
          <a:p>
            <a:pPr lvl="0">
              <a:lnSpc>
                <a:spcPct val="150000"/>
              </a:lnSpc>
            </a:pPr>
            <a:r>
              <a:rPr lang="ca-ES" dirty="0"/>
              <a:t>Comparació amb el pressupost.</a:t>
            </a:r>
            <a:endParaRPr lang="es-ES" dirty="0"/>
          </a:p>
          <a:p>
            <a:pPr lvl="0">
              <a:lnSpc>
                <a:spcPct val="150000"/>
              </a:lnSpc>
            </a:pPr>
            <a:r>
              <a:rPr lang="ca-ES" dirty="0"/>
              <a:t>Conclusions generals.</a:t>
            </a:r>
            <a:endParaRPr lang="es-ES" dirty="0"/>
          </a:p>
          <a:p>
            <a:pPr lvl="0">
              <a:lnSpc>
                <a:spcPct val="150000"/>
              </a:lnSpc>
            </a:pPr>
            <a:r>
              <a:rPr lang="ca-ES" dirty="0"/>
              <a:t>Recomanacions.</a:t>
            </a:r>
            <a:endParaRPr lang="es-ES" dirty="0"/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6" name="Gráfico 5" descr="Cabeza con engranajes">
            <a:extLst>
              <a:ext uri="{FF2B5EF4-FFF2-40B4-BE49-F238E27FC236}">
                <a16:creationId xmlns:a16="http://schemas.microsoft.com/office/drawing/2014/main" id="{0F0C5FC9-7D5F-F708-815F-D13503E19F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93956" y="4979194"/>
            <a:ext cx="914400" cy="1092994"/>
          </a:xfrm>
          <a:prstGeom prst="rect">
            <a:avLst/>
          </a:prstGeom>
        </p:spPr>
      </p:pic>
      <p:pic>
        <p:nvPicPr>
          <p:cNvPr id="7" name="Gráfico 6" descr="Investigación">
            <a:extLst>
              <a:ext uri="{FF2B5EF4-FFF2-40B4-BE49-F238E27FC236}">
                <a16:creationId xmlns:a16="http://schemas.microsoft.com/office/drawing/2014/main" id="{15D1F147-8345-D050-5508-8866C3F57F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73878" y="5005388"/>
            <a:ext cx="914400" cy="1092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985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045B8-D1A8-7B59-AB0C-49B6CA662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F76C47-F9CE-4AED-2F67-66C148069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0039"/>
            <a:ext cx="10515600" cy="459579"/>
          </a:xfrm>
        </p:spPr>
        <p:txBody>
          <a:bodyPr>
            <a:normAutofit/>
          </a:bodyPr>
          <a:lstStyle/>
          <a:p>
            <a:r>
              <a:rPr lang="ca-ES" sz="1600" b="1" u="sng" dirty="0">
                <a:solidFill>
                  <a:schemeClr val="accent1">
                    <a:lumMod val="75000"/>
                  </a:schemeClr>
                </a:solidFill>
              </a:rPr>
              <a:t>Anàlisi Estratègica de les Vendes d'una empresa en el Sector Industrial</a:t>
            </a:r>
            <a:endParaRPr lang="es-ES" sz="1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1361A7-3DE8-7184-5B54-E53D8DA2A1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914400"/>
            <a:ext cx="10951370" cy="564356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ca-ES" b="1" u="sng" dirty="0"/>
              <a:t>Recursos/Eines:</a:t>
            </a:r>
          </a:p>
          <a:p>
            <a:pPr lvl="2">
              <a:lnSpc>
                <a:spcPct val="150000"/>
              </a:lnSpc>
            </a:pPr>
            <a:r>
              <a:rPr lang="ca-ES" sz="1800" dirty="0"/>
              <a:t>Projecte elaborat sobre 4 dataset diferents: vendes (2022,2023 i 2024), Clients, productes, pressupost 2024. De fonts diferents: ERP (Microsoft </a:t>
            </a:r>
            <a:r>
              <a:rPr lang="ca-ES" sz="1800" dirty="0" err="1"/>
              <a:t>Dynamic</a:t>
            </a:r>
            <a:r>
              <a:rPr lang="ca-ES" sz="1800" dirty="0"/>
              <a:t> 365) , CRM, Oracle/Excel.</a:t>
            </a:r>
            <a:endParaRPr lang="es-ES" sz="1800" dirty="0"/>
          </a:p>
          <a:p>
            <a:pPr lvl="1">
              <a:lnSpc>
                <a:spcPct val="150000"/>
              </a:lnSpc>
            </a:pPr>
            <a:r>
              <a:rPr lang="ca-ES" dirty="0"/>
              <a:t>ETL:</a:t>
            </a:r>
            <a:endParaRPr lang="es-ES" dirty="0"/>
          </a:p>
          <a:p>
            <a:pPr lvl="2">
              <a:lnSpc>
                <a:spcPct val="150000"/>
              </a:lnSpc>
            </a:pPr>
            <a:r>
              <a:rPr lang="ca-ES" sz="1800" b="1" dirty="0"/>
              <a:t>Excel</a:t>
            </a:r>
            <a:r>
              <a:rPr lang="ca-ES" sz="1800" dirty="0">
                <a:sym typeface="Wingdings" panose="05000000000000000000" pitchFamily="2" charset="2"/>
              </a:rPr>
              <a:t></a:t>
            </a:r>
            <a:r>
              <a:rPr lang="ca-ES" sz="1800" dirty="0"/>
              <a:t> extracció.</a:t>
            </a:r>
            <a:endParaRPr lang="es-ES" sz="1800" dirty="0"/>
          </a:p>
          <a:p>
            <a:pPr lvl="2">
              <a:lnSpc>
                <a:spcPct val="150000"/>
              </a:lnSpc>
            </a:pPr>
            <a:r>
              <a:rPr lang="ca-ES" sz="1800" b="1" dirty="0"/>
              <a:t>Python</a:t>
            </a:r>
            <a:r>
              <a:rPr lang="ca-ES" sz="1800" dirty="0">
                <a:sym typeface="Wingdings" panose="05000000000000000000" pitchFamily="2" charset="2"/>
              </a:rPr>
              <a:t></a:t>
            </a:r>
            <a:r>
              <a:rPr lang="ca-ES" sz="1800" dirty="0"/>
              <a:t> Transformació (neteja de dades, normalitzar, crear variables, filtrar, unir taules...).</a:t>
            </a:r>
            <a:endParaRPr lang="es-ES" sz="1800" dirty="0"/>
          </a:p>
          <a:p>
            <a:pPr lvl="2">
              <a:lnSpc>
                <a:spcPct val="150000"/>
              </a:lnSpc>
            </a:pPr>
            <a:r>
              <a:rPr lang="ca-ES" sz="1800" b="1" dirty="0"/>
              <a:t>Power Query</a:t>
            </a:r>
            <a:r>
              <a:rPr lang="ca-ES" sz="1800" dirty="0">
                <a:sym typeface="Wingdings" panose="05000000000000000000" pitchFamily="2" charset="2"/>
              </a:rPr>
              <a:t></a:t>
            </a:r>
            <a:r>
              <a:rPr lang="ca-ES" sz="1800" dirty="0"/>
              <a:t> Transformació (neteja de dades, normalització, agregació...)</a:t>
            </a:r>
            <a:endParaRPr lang="es-ES" sz="1800" dirty="0"/>
          </a:p>
          <a:p>
            <a:pPr lvl="2">
              <a:lnSpc>
                <a:spcPct val="150000"/>
              </a:lnSpc>
            </a:pPr>
            <a:r>
              <a:rPr lang="ca-ES" sz="1800" b="1" dirty="0"/>
              <a:t>Power Bi</a:t>
            </a:r>
            <a:r>
              <a:rPr lang="ca-ES" sz="1800" dirty="0"/>
              <a:t> </a:t>
            </a:r>
            <a:r>
              <a:rPr lang="ca-ES" sz="1800" dirty="0">
                <a:sym typeface="Wingdings" panose="05000000000000000000" pitchFamily="2" charset="2"/>
              </a:rPr>
              <a:t></a:t>
            </a:r>
            <a:r>
              <a:rPr lang="ca-ES" sz="1800" dirty="0"/>
              <a:t> Carrega (load).</a:t>
            </a:r>
            <a:endParaRPr lang="es-ES" sz="1800" dirty="0"/>
          </a:p>
          <a:p>
            <a:pPr lvl="2">
              <a:lnSpc>
                <a:spcPct val="150000"/>
              </a:lnSpc>
            </a:pPr>
            <a:r>
              <a:rPr lang="ca-ES" sz="1800" b="1" dirty="0"/>
              <a:t>Python </a:t>
            </a:r>
            <a:r>
              <a:rPr lang="ca-ES" sz="1800" dirty="0">
                <a:sym typeface="Wingdings" panose="05000000000000000000" pitchFamily="2" charset="2"/>
              </a:rPr>
              <a:t></a:t>
            </a:r>
            <a:r>
              <a:rPr lang="ca-ES" sz="1800" dirty="0"/>
              <a:t> Carrega (load) (gràfics interactius).</a:t>
            </a:r>
            <a:endParaRPr lang="es-ES" sz="1800" dirty="0"/>
          </a:p>
          <a:p>
            <a:pPr lvl="1">
              <a:lnSpc>
                <a:spcPct val="150000"/>
              </a:lnSpc>
            </a:pPr>
            <a:r>
              <a:rPr lang="ca-ES" dirty="0"/>
              <a:t>Visualització:</a:t>
            </a:r>
            <a:endParaRPr lang="es-ES" dirty="0"/>
          </a:p>
          <a:p>
            <a:pPr lvl="2">
              <a:lnSpc>
                <a:spcPct val="150000"/>
              </a:lnSpc>
            </a:pPr>
            <a:r>
              <a:rPr lang="ca-ES" sz="1800" b="1" dirty="0"/>
              <a:t>Power Bi</a:t>
            </a:r>
            <a:r>
              <a:rPr lang="ca-ES" sz="1800" dirty="0"/>
              <a:t> </a:t>
            </a:r>
            <a:r>
              <a:rPr lang="ca-ES" sz="1800" dirty="0">
                <a:sym typeface="Wingdings" panose="05000000000000000000" pitchFamily="2" charset="2"/>
              </a:rPr>
              <a:t></a:t>
            </a:r>
            <a:r>
              <a:rPr lang="ca-ES" sz="1800" dirty="0"/>
              <a:t> Report.</a:t>
            </a:r>
            <a:endParaRPr lang="es-ES" sz="1800" dirty="0"/>
          </a:p>
          <a:p>
            <a:pPr lvl="2">
              <a:lnSpc>
                <a:spcPct val="150000"/>
              </a:lnSpc>
            </a:pPr>
            <a:r>
              <a:rPr lang="ca-ES" sz="1800" b="1" dirty="0"/>
              <a:t>Python </a:t>
            </a:r>
            <a:r>
              <a:rPr lang="ca-ES" sz="1800" dirty="0">
                <a:sym typeface="Wingdings" panose="05000000000000000000" pitchFamily="2" charset="2"/>
              </a:rPr>
              <a:t></a:t>
            </a:r>
            <a:r>
              <a:rPr lang="ca-ES" sz="1800" dirty="0"/>
              <a:t> Gràfics interactius de suport.</a:t>
            </a:r>
            <a:endParaRPr lang="es-ES" sz="1800" dirty="0"/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4" name="Gráfico 3" descr="Base de datos">
            <a:extLst>
              <a:ext uri="{FF2B5EF4-FFF2-40B4-BE49-F238E27FC236}">
                <a16:creationId xmlns:a16="http://schemas.microsoft.com/office/drawing/2014/main" id="{458C4FD2-1F36-BD3D-A192-B8EA505AF4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05761" y="4961333"/>
            <a:ext cx="914400" cy="982267"/>
          </a:xfrm>
          <a:prstGeom prst="rect">
            <a:avLst/>
          </a:prstGeom>
        </p:spPr>
      </p:pic>
      <p:pic>
        <p:nvPicPr>
          <p:cNvPr id="8" name="Gráfico 7" descr="Obreros de la construcción">
            <a:extLst>
              <a:ext uri="{FF2B5EF4-FFF2-40B4-BE49-F238E27FC236}">
                <a16:creationId xmlns:a16="http://schemas.microsoft.com/office/drawing/2014/main" id="{1E49B5E6-25B4-BC84-B65F-873DF2A583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46369" y="4961332"/>
            <a:ext cx="914400" cy="982267"/>
          </a:xfrm>
          <a:prstGeom prst="rect">
            <a:avLst/>
          </a:prstGeom>
        </p:spPr>
      </p:pic>
      <p:pic>
        <p:nvPicPr>
          <p:cNvPr id="10" name="Gráfico 9" descr="Resbaladizo">
            <a:extLst>
              <a:ext uri="{FF2B5EF4-FFF2-40B4-BE49-F238E27FC236}">
                <a16:creationId xmlns:a16="http://schemas.microsoft.com/office/drawing/2014/main" id="{EA5C3672-E430-2B6A-EC71-B3BDABEA55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75169" y="4961333"/>
            <a:ext cx="914400" cy="982266"/>
          </a:xfrm>
          <a:prstGeom prst="rect">
            <a:avLst/>
          </a:prstGeom>
        </p:spPr>
      </p:pic>
      <p:pic>
        <p:nvPicPr>
          <p:cNvPr id="12" name="Gráfico 11" descr="Excavadora">
            <a:extLst>
              <a:ext uri="{FF2B5EF4-FFF2-40B4-BE49-F238E27FC236}">
                <a16:creationId xmlns:a16="http://schemas.microsoft.com/office/drawing/2014/main" id="{8CBEFFE3-6A1A-ADFF-D387-61B86EBA9FD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60769" y="4961333"/>
            <a:ext cx="914400" cy="982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468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8F9B0-32FD-D19B-D42E-6EAA49A76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B61797-FA79-1623-59AF-F7F0F0B95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/>
          <a:p>
            <a:r>
              <a:rPr lang="ca-ES" sz="1600" b="1" u="sng" dirty="0">
                <a:solidFill>
                  <a:schemeClr val="accent1">
                    <a:lumMod val="75000"/>
                  </a:schemeClr>
                </a:solidFill>
              </a:rPr>
              <a:t>Anàlisi Estratègica de les Vendes d'una empresa en el Sector Industrial</a:t>
            </a:r>
            <a:endParaRPr lang="es-ES" sz="1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4357E3-E1D8-194A-EDBF-7E5185496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8725"/>
            <a:ext cx="10515600" cy="49482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a-ES" b="1" u="sng" dirty="0"/>
              <a:t>Fases del projecte:</a:t>
            </a:r>
          </a:p>
          <a:p>
            <a:pPr lvl="1">
              <a:lnSpc>
                <a:spcPct val="200000"/>
              </a:lnSpc>
            </a:pPr>
            <a:r>
              <a:rPr lang="ca-ES" dirty="0"/>
              <a:t>Marcar objectius.</a:t>
            </a:r>
            <a:endParaRPr lang="es-ES" dirty="0"/>
          </a:p>
          <a:p>
            <a:pPr lvl="1">
              <a:lnSpc>
                <a:spcPct val="200000"/>
              </a:lnSpc>
            </a:pPr>
            <a:r>
              <a:rPr lang="ca-ES" dirty="0"/>
              <a:t>Anàlisis de les dades prèvia a ETL (estat de les dades).</a:t>
            </a:r>
            <a:endParaRPr lang="es-ES" dirty="0"/>
          </a:p>
          <a:p>
            <a:pPr lvl="1">
              <a:lnSpc>
                <a:spcPct val="200000"/>
              </a:lnSpc>
            </a:pPr>
            <a:r>
              <a:rPr lang="ca-ES" dirty="0"/>
              <a:t>ETL.</a:t>
            </a:r>
            <a:endParaRPr lang="es-ES" dirty="0"/>
          </a:p>
          <a:p>
            <a:pPr lvl="1">
              <a:lnSpc>
                <a:spcPct val="200000"/>
              </a:lnSpc>
            </a:pPr>
            <a:r>
              <a:rPr lang="ca-ES" dirty="0"/>
              <a:t>Visualitzacions.</a:t>
            </a:r>
            <a:endParaRPr lang="es-ES" dirty="0"/>
          </a:p>
          <a:p>
            <a:pPr lvl="1">
              <a:lnSpc>
                <a:spcPct val="200000"/>
              </a:lnSpc>
            </a:pPr>
            <a:r>
              <a:rPr lang="ca-ES" dirty="0"/>
              <a:t>Anàlisis d’alguns resultats.</a:t>
            </a:r>
            <a:endParaRPr lang="es-ES" dirty="0"/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5" name="Gráfico 4" descr="Programador">
            <a:extLst>
              <a:ext uri="{FF2B5EF4-FFF2-40B4-BE49-F238E27FC236}">
                <a16:creationId xmlns:a16="http://schemas.microsoft.com/office/drawing/2014/main" id="{C3010A9A-54D1-3099-86AA-5B290BA6C5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20362" y="494347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874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41885-6AFC-3881-2CB2-47DF9FD75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52825B-6054-D641-845A-CCE421BA0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/>
          <a:p>
            <a:r>
              <a:rPr lang="ca-ES" sz="1600" b="1" u="sng" dirty="0">
                <a:solidFill>
                  <a:schemeClr val="accent1">
                    <a:lumMod val="75000"/>
                  </a:schemeClr>
                </a:solidFill>
              </a:rPr>
              <a:t>Anàlisi Estratègica de les Vendes d'una empresa en el Sector Industrial</a:t>
            </a:r>
            <a:endParaRPr lang="es-ES" sz="1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2D26D7-4D81-2C7F-21E1-8FCEA82CA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2988"/>
            <a:ext cx="10515600" cy="5133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a-ES" sz="2400" b="1" u="sng" dirty="0"/>
              <a:t>Conclusions:</a:t>
            </a:r>
            <a:endParaRPr lang="es-ES" sz="2400" dirty="0"/>
          </a:p>
          <a:p>
            <a:pPr lvl="1" algn="just">
              <a:lnSpc>
                <a:spcPct val="100000"/>
              </a:lnSpc>
            </a:pPr>
            <a:r>
              <a:rPr lang="ca-ES" dirty="0"/>
              <a:t>Disminució de les ventes amb un augment de la </a:t>
            </a:r>
            <a:r>
              <a:rPr lang="ca-ES" dirty="0" err="1"/>
              <a:t>qtt</a:t>
            </a:r>
            <a:r>
              <a:rPr lang="ca-ES" dirty="0"/>
              <a:t> de vendes i lleuger augment del marge recolzat per la disminucions de preus de productes claus en l’empresa.</a:t>
            </a:r>
            <a:endParaRPr lang="es-ES" dirty="0"/>
          </a:p>
          <a:p>
            <a:pPr lvl="1" algn="just">
              <a:lnSpc>
                <a:spcPct val="100000"/>
              </a:lnSpc>
            </a:pPr>
            <a:r>
              <a:rPr lang="ca-ES" dirty="0"/>
              <a:t>Forta dependència de la Línia de productes C3 i de la Família de productes: TCN, DSP, FOM, PRM.</a:t>
            </a:r>
          </a:p>
          <a:p>
            <a:pPr lvl="1" algn="just">
              <a:lnSpc>
                <a:spcPct val="100000"/>
              </a:lnSpc>
            </a:pPr>
            <a:r>
              <a:rPr lang="ca-ES" dirty="0"/>
              <a:t>Marges per productes estrelles en tendència a la baixa.</a:t>
            </a:r>
            <a:endParaRPr lang="es-ES" dirty="0"/>
          </a:p>
          <a:p>
            <a:pPr lvl="1" algn="just">
              <a:lnSpc>
                <a:spcPct val="100000"/>
              </a:lnSpc>
            </a:pPr>
            <a:r>
              <a:rPr lang="ca-ES" dirty="0" err="1"/>
              <a:t>Bdg</a:t>
            </a:r>
            <a:r>
              <a:rPr lang="ca-ES" dirty="0"/>
              <a:t> 2024 esbiaixat a la baixa respecte les vendes reals, desviació de les vendes significativa (7%).</a:t>
            </a:r>
            <a:endParaRPr lang="es-ES" dirty="0"/>
          </a:p>
          <a:p>
            <a:pPr lvl="1" algn="just">
              <a:lnSpc>
                <a:spcPct val="100000"/>
              </a:lnSpc>
            </a:pPr>
            <a:r>
              <a:rPr lang="ca-ES" dirty="0"/>
              <a:t>Cartera amplia de clients, centrada bàsicament a Espanya, amb creixements a l’Orient mitjà i Nord Amèrica. </a:t>
            </a:r>
            <a:endParaRPr lang="es-ES" dirty="0"/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6" name="Gráfico 5" descr="Documento">
            <a:extLst>
              <a:ext uri="{FF2B5EF4-FFF2-40B4-BE49-F238E27FC236}">
                <a16:creationId xmlns:a16="http://schemas.microsoft.com/office/drawing/2014/main" id="{7473B268-EBDE-261C-AD4C-0EDAC86A92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67787" y="5576888"/>
            <a:ext cx="914400" cy="914400"/>
          </a:xfrm>
          <a:prstGeom prst="rect">
            <a:avLst/>
          </a:prstGeom>
        </p:spPr>
      </p:pic>
      <p:pic>
        <p:nvPicPr>
          <p:cNvPr id="8" name="Gráfico 7" descr="Sala de juntas">
            <a:extLst>
              <a:ext uri="{FF2B5EF4-FFF2-40B4-BE49-F238E27FC236}">
                <a16:creationId xmlns:a16="http://schemas.microsoft.com/office/drawing/2014/main" id="{37943F22-B3AD-4D31-FEE9-FB0EBE4EAB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793" y="557688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421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EE86E-E462-43A9-A770-8E110D939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8B923A-5FDE-8134-7E38-650E43B01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/>
          <a:p>
            <a:r>
              <a:rPr lang="ca-ES" sz="1600" b="1" u="sng" dirty="0">
                <a:solidFill>
                  <a:schemeClr val="accent1">
                    <a:lumMod val="75000"/>
                  </a:schemeClr>
                </a:solidFill>
              </a:rPr>
              <a:t>Anàlisi Estratègica de les Vendes d'una empresa en el Sector Industrial</a:t>
            </a:r>
            <a:endParaRPr lang="es-ES" sz="1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C9ABED-466A-479B-E7F0-2FD47A283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57847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ca-ES" sz="4400" b="1" u="sng"/>
              <a:t>Recomanacions:</a:t>
            </a:r>
            <a:endParaRPr lang="es-ES" sz="4400" dirty="0"/>
          </a:p>
          <a:p>
            <a:pPr lvl="1">
              <a:lnSpc>
                <a:spcPct val="170000"/>
              </a:lnSpc>
            </a:pPr>
            <a:r>
              <a:rPr lang="ca-ES" sz="4400" dirty="0"/>
              <a:t>Realització mix de productes. Revisió política de preus.</a:t>
            </a:r>
            <a:endParaRPr lang="es-ES" sz="4400" dirty="0"/>
          </a:p>
          <a:p>
            <a:pPr lvl="1">
              <a:lnSpc>
                <a:spcPct val="170000"/>
              </a:lnSpc>
            </a:pPr>
            <a:r>
              <a:rPr lang="ca-ES" sz="4400" dirty="0"/>
              <a:t>Revisió i justificació dels </a:t>
            </a:r>
            <a:r>
              <a:rPr lang="ca-ES" sz="4400" dirty="0" err="1"/>
              <a:t>outliers</a:t>
            </a:r>
            <a:r>
              <a:rPr lang="ca-ES" sz="4400" dirty="0"/>
              <a:t>.</a:t>
            </a:r>
          </a:p>
          <a:p>
            <a:pPr lvl="1">
              <a:lnSpc>
                <a:spcPct val="170000"/>
              </a:lnSpc>
            </a:pPr>
            <a:r>
              <a:rPr lang="ca-ES" sz="4400" noProof="0" dirty="0"/>
              <a:t>Anàlisis i determinació dels gaps</a:t>
            </a:r>
            <a:r>
              <a:rPr lang="es-ES" sz="4400" dirty="0"/>
              <a:t>.</a:t>
            </a:r>
          </a:p>
          <a:p>
            <a:pPr lvl="1">
              <a:lnSpc>
                <a:spcPct val="170000"/>
              </a:lnSpc>
            </a:pPr>
            <a:r>
              <a:rPr lang="ca-ES" sz="4400" noProof="0" dirty="0"/>
              <a:t>Anàlisis cartera de clients i causes de les variacions</a:t>
            </a:r>
            <a:r>
              <a:rPr lang="es-ES" sz="4400" dirty="0"/>
              <a:t>.</a:t>
            </a:r>
          </a:p>
          <a:p>
            <a:pPr lvl="1">
              <a:lnSpc>
                <a:spcPct val="170000"/>
              </a:lnSpc>
            </a:pPr>
            <a:r>
              <a:rPr lang="ca-ES" sz="4400" noProof="0" dirty="0"/>
              <a:t>Pressupost més precís. </a:t>
            </a:r>
          </a:p>
          <a:p>
            <a:pPr lvl="1">
              <a:lnSpc>
                <a:spcPct val="170000"/>
              </a:lnSpc>
            </a:pPr>
            <a:r>
              <a:rPr lang="ca-ES" sz="4400" dirty="0"/>
              <a:t>Anàlisis mensual, revisió tendència marges de productes claus.</a:t>
            </a:r>
            <a:endParaRPr lang="es-ES" sz="4400" dirty="0"/>
          </a:p>
          <a:p>
            <a:pPr lvl="1">
              <a:lnSpc>
                <a:spcPct val="170000"/>
              </a:lnSpc>
            </a:pPr>
            <a:r>
              <a:rPr lang="ca-ES" sz="4400" dirty="0"/>
              <a:t>Previsió/entrenament de les vendes a traves de Machine learning.</a:t>
            </a:r>
            <a:endParaRPr lang="es-ES" sz="4400" dirty="0"/>
          </a:p>
          <a:p>
            <a:pPr lvl="1">
              <a:lnSpc>
                <a:spcPct val="170000"/>
              </a:lnSpc>
            </a:pPr>
            <a:r>
              <a:rPr lang="ca-ES" sz="4400" dirty="0"/>
              <a:t>Acabar el “cercle” i muntar PL analític. </a:t>
            </a:r>
          </a:p>
          <a:p>
            <a:pPr marL="457200" lvl="1" indent="0">
              <a:lnSpc>
                <a:spcPct val="200000"/>
              </a:lnSpc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6" name="Gráfico 5" descr="Documento">
            <a:extLst>
              <a:ext uri="{FF2B5EF4-FFF2-40B4-BE49-F238E27FC236}">
                <a16:creationId xmlns:a16="http://schemas.microsoft.com/office/drawing/2014/main" id="{8281F3EE-6FC8-F30B-C898-103480B0E4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10575" y="5291138"/>
            <a:ext cx="914400" cy="914400"/>
          </a:xfrm>
          <a:prstGeom prst="rect">
            <a:avLst/>
          </a:prstGeom>
        </p:spPr>
      </p:pic>
      <p:pic>
        <p:nvPicPr>
          <p:cNvPr id="8" name="Gráfico 7" descr="Sala de juntas">
            <a:extLst>
              <a:ext uri="{FF2B5EF4-FFF2-40B4-BE49-F238E27FC236}">
                <a16:creationId xmlns:a16="http://schemas.microsoft.com/office/drawing/2014/main" id="{EE220F72-951D-5A0B-C532-97D8E50C04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82187" y="526256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583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9372C40-3C8D-E7E6-0E7A-EE967A86752A}"/>
              </a:ext>
            </a:extLst>
          </p:cNvPr>
          <p:cNvSpPr txBox="1"/>
          <p:nvPr/>
        </p:nvSpPr>
        <p:spPr>
          <a:xfrm>
            <a:off x="1156097" y="952798"/>
            <a:ext cx="60936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s-ES" sz="1800" dirty="0"/>
              <a:t>Distribució TCN de USP per als anys 2023 i </a:t>
            </a:r>
            <a:r>
              <a:rPr lang="es-ES" sz="1800" dirty="0">
                <a:hlinkClick r:id="rId2" action="ppaction://hlinkfile"/>
              </a:rPr>
              <a:t>2024</a:t>
            </a:r>
            <a:endParaRPr lang="es-ES" sz="1800" dirty="0"/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s-ES" sz="1800" dirty="0"/>
              <a:t>Distribució FOM de USP  per als anys 2023 i </a:t>
            </a:r>
            <a:r>
              <a:rPr lang="es-ES" sz="1800" dirty="0">
                <a:hlinkClick r:id="rId3" action="ppaction://hlinkfile"/>
              </a:rPr>
              <a:t>2024</a:t>
            </a:r>
            <a:endParaRPr lang="es-ES" sz="1800" dirty="0"/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s-ES" sz="1800" dirty="0"/>
              <a:t>Distribució DSP de USP per als anys 2023 i </a:t>
            </a:r>
            <a:r>
              <a:rPr lang="es-ES" sz="1800" dirty="0">
                <a:hlinkClick r:id="rId4" action="ppaction://hlinkfile"/>
              </a:rPr>
              <a:t>2024</a:t>
            </a:r>
            <a:endParaRPr lang="es-ES" sz="18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D9A0095-9AE1-77E2-88A4-7E6855AE67BC}"/>
              </a:ext>
            </a:extLst>
          </p:cNvPr>
          <p:cNvSpPr txBox="1"/>
          <p:nvPr/>
        </p:nvSpPr>
        <p:spPr>
          <a:xfrm>
            <a:off x="1156097" y="315218"/>
            <a:ext cx="6093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400" b="1" u="sng" dirty="0"/>
              <a:t>USP: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6838CBD-AB48-5CCE-6797-DABC5ACCE7CB}"/>
              </a:ext>
            </a:extLst>
          </p:cNvPr>
          <p:cNvSpPr txBox="1"/>
          <p:nvPr/>
        </p:nvSpPr>
        <p:spPr>
          <a:xfrm>
            <a:off x="1156097" y="2026593"/>
            <a:ext cx="6093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400" b="1" u="sng" dirty="0"/>
              <a:t>Sales vs </a:t>
            </a:r>
            <a:r>
              <a:rPr lang="es-ES" sz="2400" b="1" u="sng" dirty="0" err="1"/>
              <a:t>Bdg</a:t>
            </a:r>
            <a:r>
              <a:rPr lang="es-ES" sz="2400" b="1" u="sng" dirty="0"/>
              <a:t> 2024: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E8EC493-5885-40E2-660E-BA619AEF07D5}"/>
              </a:ext>
            </a:extLst>
          </p:cNvPr>
          <p:cNvSpPr txBox="1"/>
          <p:nvPr/>
        </p:nvSpPr>
        <p:spPr>
          <a:xfrm>
            <a:off x="1156097" y="2488258"/>
            <a:ext cx="631626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s-ES" dirty="0"/>
              <a:t>Monthly Sales vs Budget Performance </a:t>
            </a:r>
            <a:r>
              <a:rPr lang="es-ES" dirty="0">
                <a:hlinkClick r:id="rId5" action="ppaction://hlinkfile"/>
              </a:rPr>
              <a:t>2024</a:t>
            </a:r>
            <a:endParaRPr lang="es-ES" sz="18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Sales deviation: actual vs monthly budget </a:t>
            </a:r>
            <a:r>
              <a:rPr lang="es-ES" sz="1800" dirty="0">
                <a:hlinkClick r:id="rId6" action="ppaction://hlinkfile"/>
              </a:rPr>
              <a:t>2024</a:t>
            </a:r>
            <a:endParaRPr lang="es-ES" sz="18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s-ES" dirty="0"/>
              <a:t>Monthly Quantitative Sales vs Budget Performance </a:t>
            </a:r>
            <a:r>
              <a:rPr lang="es-ES" sz="1800" dirty="0">
                <a:hlinkClick r:id="rId7" action="ppaction://hlinkfile"/>
              </a:rPr>
              <a:t>2024</a:t>
            </a:r>
            <a:endParaRPr lang="es-ES" sz="18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Quantitative deviation: actual vs monthly budget </a:t>
            </a:r>
            <a:r>
              <a:rPr lang="es-ES" dirty="0">
                <a:hlinkClick r:id="rId8" action="ppaction://hlinkfile"/>
              </a:rPr>
              <a:t>2024</a:t>
            </a:r>
            <a:endParaRPr lang="es-ES" dirty="0"/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s-ES" sz="18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3A3131C-D4D0-6186-510E-31F65CA0EE30}"/>
              </a:ext>
            </a:extLst>
          </p:cNvPr>
          <p:cNvSpPr txBox="1"/>
          <p:nvPr/>
        </p:nvSpPr>
        <p:spPr>
          <a:xfrm>
            <a:off x="1156097" y="3734753"/>
            <a:ext cx="6093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400" b="1" u="sng" dirty="0" err="1"/>
              <a:t>Overall</a:t>
            </a:r>
            <a:r>
              <a:rPr lang="es-ES" sz="2400" b="1" u="sng" dirty="0"/>
              <a:t> data: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CBD63C0-27E2-E804-2943-CEE01E6B51EB}"/>
              </a:ext>
            </a:extLst>
          </p:cNvPr>
          <p:cNvSpPr txBox="1"/>
          <p:nvPr/>
        </p:nvSpPr>
        <p:spPr>
          <a:xfrm>
            <a:off x="1156097" y="4243209"/>
            <a:ext cx="63162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s-ES" dirty="0"/>
              <a:t>Invoice data </a:t>
            </a:r>
            <a:r>
              <a:rPr lang="es-ES" dirty="0">
                <a:hlinkClick r:id="rId9" action="ppaction://hlinkfile"/>
              </a:rPr>
              <a:t>2024</a:t>
            </a:r>
            <a:endParaRPr lang="es-ES" sz="1800" dirty="0"/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s-ES" sz="1800" dirty="0"/>
          </a:p>
        </p:txBody>
      </p:sp>
    </p:spTree>
    <p:extLst>
      <p:ext uri="{BB962C8B-B14F-4D97-AF65-F5344CB8AC3E}">
        <p14:creationId xmlns:p14="http://schemas.microsoft.com/office/powerpoint/2010/main" val="4153677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1FE1E-BA7C-490C-F8D9-9A47E11F79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/>
              <a:t>Gràcies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68075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1112</TotalTime>
  <Words>548</Words>
  <Application>Microsoft Office PowerPoint</Application>
  <PresentationFormat>Panorámica</PresentationFormat>
  <Paragraphs>63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Tema de Office</vt:lpstr>
      <vt:lpstr>Anàlisi Estratègica de les Vendes d'una empresa en el Sector Industrial </vt:lpstr>
      <vt:lpstr>Anàlisi Estratègica de les Vendes d'una empresa en el Sector Industrial</vt:lpstr>
      <vt:lpstr>Presentación de PowerPoint</vt:lpstr>
      <vt:lpstr>Anàlisi Estratègica de les Vendes d'una empresa en el Sector Industrial</vt:lpstr>
      <vt:lpstr>Anàlisi Estratègica de les Vendes d'una empresa en el Sector Industrial</vt:lpstr>
      <vt:lpstr>Anàlisi Estratègica de les Vendes d'una empresa en el Sector Industrial</vt:lpstr>
      <vt:lpstr>Anàlisi Estratègica de les Vendes d'una empresa en el Sector Industrial</vt:lpstr>
      <vt:lpstr>Anàlisi Estratègica de les Vendes d'una empresa en el Sector Industrial</vt:lpstr>
      <vt:lpstr>Presentación de PowerPoint</vt:lpstr>
      <vt:lpstr>Gràcies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AUCILIADORA PONS SALORD</dc:creator>
  <cp:lastModifiedBy>MARIA AUCILIADORA PONS SALORD</cp:lastModifiedBy>
  <cp:revision>26</cp:revision>
  <dcterms:created xsi:type="dcterms:W3CDTF">2026-02-11T13:12:47Z</dcterms:created>
  <dcterms:modified xsi:type="dcterms:W3CDTF">2026-02-16T10:18:58Z</dcterms:modified>
</cp:coreProperties>
</file>